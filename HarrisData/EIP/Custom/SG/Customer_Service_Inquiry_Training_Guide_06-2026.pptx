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61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Customer Service Inquiry training guide for the HarrisData EIP portal at Screen Graphics of Florida. This guide will walk you through how to search for customer orders and access detailed information about orders, invoices, manufacturing orders, and items.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access the Customer Service Inquiry, open your browser and navigate to the EIP portal at portal.screen-graphics.com, port 5601, slash EIP. After logging in, look for the SG Inquiries option in the left navigation menu. Hover your mouse over SG Inquiries and a submenu will appear. Click Order Entry from that submenu. Note that your EIP menu may look different from what you see here, depending on the role assigned to your account. If you do not see SG Inquiries in your menu, contact the IT department to have it added.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Order Entry opens the SG Inquiries Order Entry landing page. You will see a single tile labeled Customer Service Inquiry. The description below it confirms what you can search: order number, invoice number, customer name, phone, purchase order number, city and state, or item number and description. Click this tile to open the search screen.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Service Inquiry search screen has a single search box that searches across all fields simultaneously. You can search by order number, invoice number, phone number, customer name, D-O-T number, asset number, item description, purchase order number, or customer number. Simply type any partial value — you do not need to know the exact full value — and click Search. Results are limited to one thousand lines, so use a more specific search term if you get too many results. Use the Clear button to reset the search box.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results are grouped by order. At the top you will see a count of total orders and lines found. Each order header bar shows the order number, customer name and number, purchase order number, invoice numbers, booked date, salesperson, customer service rep, and city and state. Below each header are the line items for that order, showing the item number, item type, description, required date, quantities, pricing, manufacturing order number, phone number, and reference fields. Five fields are clickable and will each open a new browser window: the Order number opens the full order detail, the Customer number opens the customer record, Invoice numbers open the invoice, Item numbers open the item record, and M-O numbers open the manufacturing order detail. Prices highlighted in yellow indicate a special or overridden price.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order number opens the Order History detail in a new browser window. The order detail has five tabs at the top. The Header tab shows order dates, terms, salesperson, ship method, and order type. The Comment tab shows any order-level notes. The Flags tab shows special flags set on the order. The Shipment tab shows shipment and tracking information. The Summary tab, which is the default view, shows the Drop Ship, Ship-To, and Bill-To addresses, all line items with quantities and pricing, and the order totals including subtotal, freight charge, state tax, and order total. Prices highlighted in yellow indicate a special or overridden price. Use the navigation arrows next to the order number to move to the previous or next order for the same customer.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the customer number in any order header opens that customer's full record in a new browser window. The customer home page is a comprehensive view of everything related to that customer. From here you can access their A-R Aging, Open Orders, and Order History. You can view their Invoices and Pending Payments. You can also access Attachments, Comments, and Fax and Email information. Additional sections include Customer Items, Y-T-D Top Items, Last Year's Top Items, Availability, Demographics, Contacts, Events, Drop Ship records, Open Items, and User-Defined fields.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invoice number opens the full invoice in a new browser window. The invoice displays the Screen Graphics logo and company address at the top. It shows the Bill-To and Drop Ship addresses, along with terms, salesperson, order date, required date, reference number, ship method, F-O-B, and order number. The line items are listed with quantities ordered, quantities shipped, unit price, and extended price. At the bottom you will find payment instructions including the remit-to bank information and the accounts receivable contact.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M-O number opens the Manufacturing Order detail in a new browser window. At the top you will see the M-O number, the item being produced, and the plant. The Quantities section shows how many were ordered, received, scrapped, and the remaining balance. The Transactions section shows the history of transactions on the order with dates and transaction codes. The Components section shows the bill of materials — the component items required to produce this product. The Labor Hours section shows the routing operations, work centers, standard and actual hours. The Labor Quantities section shows actual labor reported by department and work center.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Clicking an item number opens the full item record in a new browser window. At the top you will see the item number and description. The Available to Promise section shows current inventory, demand, sales forecasts, customer demand, and planned orders by date — this tells you whether the item is available to ship. The Cost Summary shows the standard cost broken down into material, labor, setup, manufacturing overhead, and total cost, along with the last maintenance date. Additional tabs give access to Demand, Product Structure, Routing, Warehouses, Plants, Demographics, Attachments, and Extended Descriptions.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Customer Service Inquiry training guide. If you have questions, need access to the EIP portal, or require additional training, please contact the IT department. You can reach us by email at S-G-I-T at screen-graphics dot com, or by phone at 800-346-4420. Thank you for watching.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1.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1.png"/><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w="12700">
            <a:solidFill>
              <a:srgbClr val="F0A500"/>
            </a:solidFill>
            <a:prstDash val="solid"/>
          </a:ln>
        </p:spPr>
        <p:txBody>
          <a:bodyPr/>
          <a:lstStyle/>
          <a:p>
            <a:endParaRPr lang="en-US"/>
          </a:p>
        </p:txBody>
      </p:sp>
      <p:sp>
        <p:nvSpPr>
          <p:cNvPr id="3" name="Text 1"/>
          <p:cNvSpPr/>
          <p:nvPr/>
        </p:nvSpPr>
        <p:spPr>
          <a:xfrm>
            <a:off x="548640" y="457200"/>
            <a:ext cx="8046720" cy="320040"/>
          </a:xfrm>
          <a:prstGeom prst="rect">
            <a:avLst/>
          </a:prstGeom>
          <a:noFill/>
          <a:ln/>
        </p:spPr>
        <p:txBody>
          <a:bodyPr wrap="square" lIns="0" tIns="0" rIns="0" bIns="0" rtlCol="0" anchor="ctr"/>
          <a:lstStyle/>
          <a:p>
            <a:pPr marL="0" indent="0">
              <a:buNone/>
            </a:pPr>
            <a:r>
              <a:rPr lang="en-US" sz="1100" kern="0" spc="300" dirty="0">
                <a:solidFill>
                  <a:srgbClr val="8AB4D8"/>
                </a:solidFill>
                <a:latin typeface="Calibri" pitchFamily="34" charset="0"/>
                <a:ea typeface="Calibri" pitchFamily="34" charset="-122"/>
                <a:cs typeface="Calibri" pitchFamily="34" charset="-120"/>
              </a:rPr>
              <a:t>SCREEN GRAPHICS OF FLORIDA</a:t>
            </a:r>
            <a:endParaRPr lang="en-US" sz="1100" dirty="0"/>
          </a:p>
        </p:txBody>
      </p:sp>
      <p:sp>
        <p:nvSpPr>
          <p:cNvPr id="4" name="Text 2"/>
          <p:cNvSpPr/>
          <p:nvPr/>
        </p:nvSpPr>
        <p:spPr>
          <a:xfrm>
            <a:off x="548640" y="914400"/>
            <a:ext cx="8046720" cy="128016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Customer Service Inquiry</a:t>
            </a:r>
            <a:endParaRPr lang="en-US" sz="4800" dirty="0"/>
          </a:p>
        </p:txBody>
      </p:sp>
      <p:sp>
        <p:nvSpPr>
          <p:cNvPr id="5" name="Text 3"/>
          <p:cNvSpPr/>
          <p:nvPr/>
        </p:nvSpPr>
        <p:spPr>
          <a:xfrm>
            <a:off x="548640" y="2148840"/>
            <a:ext cx="8046720" cy="640080"/>
          </a:xfrm>
          <a:prstGeom prst="rect">
            <a:avLst/>
          </a:prstGeom>
          <a:noFill/>
          <a:ln/>
        </p:spPr>
        <p:txBody>
          <a:bodyPr wrap="square" lIns="0" tIns="0" rIns="0" bIns="0" rtlCol="0" anchor="ctr"/>
          <a:lstStyle/>
          <a:p>
            <a:pPr marL="0" indent="0">
              <a:buNone/>
            </a:pPr>
            <a:r>
              <a:rPr lang="en-US" sz="2800" dirty="0">
                <a:solidFill>
                  <a:srgbClr val="F0A500"/>
                </a:solidFill>
                <a:latin typeface="Calibri" pitchFamily="34" charset="0"/>
                <a:ea typeface="Calibri" pitchFamily="34" charset="-122"/>
                <a:cs typeface="Calibri" pitchFamily="34" charset="-120"/>
              </a:rPr>
              <a:t>Training Guide</a:t>
            </a:r>
            <a:endParaRPr lang="en-US" sz="2800" dirty="0"/>
          </a:p>
        </p:txBody>
      </p:sp>
      <p:sp>
        <p:nvSpPr>
          <p:cNvPr id="6" name="Text 4"/>
          <p:cNvSpPr/>
          <p:nvPr/>
        </p:nvSpPr>
        <p:spPr>
          <a:xfrm>
            <a:off x="548640" y="2926080"/>
            <a:ext cx="8046720" cy="365760"/>
          </a:xfrm>
          <a:prstGeom prst="rect">
            <a:avLst/>
          </a:prstGeom>
          <a:noFill/>
          <a:ln/>
        </p:spPr>
        <p:txBody>
          <a:bodyPr wrap="square" lIns="0" tIns="0" rIns="0" bIns="0" rtlCol="0" anchor="ctr"/>
          <a:lstStyle/>
          <a:p>
            <a:pPr marL="0" indent="0">
              <a:buNone/>
            </a:pPr>
            <a:r>
              <a:rPr lang="en-US" sz="1300" dirty="0">
                <a:solidFill>
                  <a:srgbClr val="8AB4D8"/>
                </a:solidFill>
                <a:latin typeface="Calibri" pitchFamily="34" charset="0"/>
                <a:ea typeface="Calibri" pitchFamily="34" charset="-122"/>
                <a:cs typeface="Calibri" pitchFamily="34" charset="-120"/>
              </a:rPr>
              <a:t>HarrisData EIP  ·  SG Inquiries  ›  Order Entry  ·  June 2026</a:t>
            </a:r>
            <a:endParaRPr lang="en-US" sz="1300" dirty="0"/>
          </a:p>
        </p:txBody>
      </p:sp>
      <p:sp>
        <p:nvSpPr>
          <p:cNvPr id="7" name="Text 5"/>
          <p:cNvSpPr/>
          <p:nvPr/>
        </p:nvSpPr>
        <p:spPr>
          <a:xfrm>
            <a:off x="548640" y="3337560"/>
            <a:ext cx="8046720" cy="320040"/>
          </a:xfrm>
          <a:prstGeom prst="rect">
            <a:avLst/>
          </a:prstGeom>
          <a:noFill/>
          <a:ln/>
        </p:spPr>
        <p:txBody>
          <a:bodyPr wrap="square" lIns="0" tIns="0" rIns="0" bIns="0" rtlCol="0" anchor="ctr"/>
          <a:lstStyle/>
          <a:p>
            <a:pPr marL="0" indent="0">
              <a:buNone/>
            </a:pPr>
            <a:r>
              <a:rPr lang="en-US" sz="1200" dirty="0">
                <a:solidFill>
                  <a:srgbClr val="8AB4D8"/>
                </a:solidFill>
                <a:latin typeface="Courier New" pitchFamily="34" charset="0"/>
                <a:ea typeface="Courier New" pitchFamily="34" charset="-122"/>
                <a:cs typeface="Courier New" pitchFamily="34" charset="-120"/>
              </a:rPr>
              <a:t>portal.screen-graphics.com:5601/EIP</a:t>
            </a:r>
            <a:endParaRPr lang="en-US" sz="1200" dirty="0"/>
          </a:p>
        </p:txBody>
      </p:sp>
      <p:sp>
        <p:nvSpPr>
          <p:cNvPr id="8" name="Shape 6"/>
          <p:cNvSpPr/>
          <p:nvPr/>
        </p:nvSpPr>
        <p:spPr>
          <a:xfrm>
            <a:off x="0" y="4960620"/>
            <a:ext cx="9144000" cy="182880"/>
          </a:xfrm>
          <a:prstGeom prst="rect">
            <a:avLst/>
          </a:prstGeom>
          <a:solidFill>
            <a:srgbClr val="F0A500"/>
          </a:solidFill>
          <a:ln w="12700">
            <a:solidFill>
              <a:srgbClr val="F0A500"/>
            </a:solidFill>
            <a:prstDash val="solid"/>
          </a:ln>
        </p:spPr>
        <p:txBody>
          <a:bodyPr/>
          <a:lstStyle/>
          <a:p>
            <a:endParaRPr lang="en-US"/>
          </a:p>
        </p:txBody>
      </p:sp>
      <p:pic>
        <p:nvPicPr>
          <p:cNvPr id="9" name="ttsmaker-file-2026-6-22-13-58-31">
            <a:hlinkClick r:id="" action="ppaction://media"/>
            <a:extLst>
              <a:ext uri="{FF2B5EF4-FFF2-40B4-BE49-F238E27FC236}">
                <a16:creationId xmlns:a16="http://schemas.microsoft.com/office/drawing/2014/main" id="{660E99F8-65EA-096A-C43C-E33E698497F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19000"/>
    </mc:Choice>
    <mc:Fallback xmlns="">
      <p:transition spd="slow" advClick="0" advTm="1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86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Log In &amp; Navigate to SG Inquiries</a:t>
            </a:r>
            <a:endParaRPr lang="en-US" sz="1800" dirty="0"/>
          </a:p>
        </p:txBody>
      </p:sp>
      <p:sp>
        <p:nvSpPr>
          <p:cNvPr id="6" name="Text 4"/>
          <p:cNvSpPr/>
          <p:nvPr/>
        </p:nvSpPr>
        <p:spPr>
          <a:xfrm>
            <a:off x="365760" y="777240"/>
            <a:ext cx="2377440" cy="1463040"/>
          </a:xfrm>
          <a:prstGeom prst="rect">
            <a:avLst/>
          </a:prstGeom>
          <a:noFill/>
          <a:ln/>
        </p:spPr>
        <p:txBody>
          <a:bodyPr wrap="square" lIns="50800" tIns="50800" rIns="50800" bIns="50800" rtlCol="0" anchor="t"/>
          <a:lstStyle/>
          <a:p>
            <a:pPr marL="0" indent="0">
              <a:buNone/>
            </a:pPr>
            <a:r>
              <a:rPr lang="en-US" sz="1100" b="1" dirty="0">
                <a:solidFill>
                  <a:srgbClr val="F0A500"/>
                </a:solidFill>
                <a:latin typeface="Calibri" pitchFamily="34" charset="0"/>
                <a:ea typeface="Calibri" pitchFamily="34" charset="-122"/>
                <a:cs typeface="Calibri" pitchFamily="34" charset="-120"/>
              </a:rPr>
              <a:t>1. </a:t>
            </a:r>
            <a:r>
              <a:rPr lang="en-US" sz="1100" dirty="0">
                <a:solidFill>
                  <a:srgbClr val="333333"/>
                </a:solidFill>
                <a:latin typeface="Calibri" pitchFamily="34" charset="0"/>
                <a:ea typeface="Calibri" pitchFamily="34" charset="-122"/>
                <a:cs typeface="Calibri" pitchFamily="34" charset="-120"/>
              </a:rPr>
              <a:t>Go to: </a:t>
            </a:r>
            <a:r>
              <a:rPr lang="en-US" sz="1100" b="1" dirty="0">
                <a:solidFill>
                  <a:srgbClr val="2E6DB4"/>
                </a:solidFill>
                <a:latin typeface="Courier New" pitchFamily="34" charset="0"/>
                <a:ea typeface="Courier New" pitchFamily="34" charset="-122"/>
                <a:cs typeface="Courier New" pitchFamily="34" charset="-120"/>
              </a:rPr>
              <a:t>portal.screen-graphics.com:5601/EIP</a:t>
            </a: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F0A500"/>
                </a:solidFill>
                <a:latin typeface="Calibri" pitchFamily="34" charset="0"/>
                <a:ea typeface="Calibri" pitchFamily="34" charset="-122"/>
                <a:cs typeface="Calibri" pitchFamily="34" charset="-120"/>
              </a:rPr>
              <a:t>2. </a:t>
            </a:r>
            <a:r>
              <a:rPr lang="en-US" sz="1100" dirty="0">
                <a:solidFill>
                  <a:srgbClr val="333333"/>
                </a:solidFill>
                <a:latin typeface="Calibri" pitchFamily="34" charset="0"/>
                <a:ea typeface="Calibri" pitchFamily="34" charset="-122"/>
                <a:cs typeface="Calibri" pitchFamily="34" charset="-120"/>
              </a:rPr>
              <a:t>Log in, locate </a:t>
            </a:r>
            <a:r>
              <a:rPr lang="en-US" sz="1100" b="1" dirty="0">
                <a:solidFill>
                  <a:srgbClr val="1A3A5C"/>
                </a:solidFill>
                <a:latin typeface="Calibri" pitchFamily="34" charset="0"/>
                <a:ea typeface="Calibri" pitchFamily="34" charset="-122"/>
                <a:cs typeface="Calibri" pitchFamily="34" charset="-120"/>
              </a:rPr>
              <a:t>SG Inquiries</a:t>
            </a:r>
            <a:r>
              <a:rPr lang="en-US" sz="1100" dirty="0">
                <a:solidFill>
                  <a:srgbClr val="333333"/>
                </a:solidFill>
                <a:latin typeface="Calibri" pitchFamily="34" charset="0"/>
                <a:ea typeface="Calibri" pitchFamily="34" charset="-122"/>
                <a:cs typeface="Calibri" pitchFamily="34" charset="-120"/>
              </a:rPr>
              <a:t> in the left menu.</a:t>
            </a:r>
            <a:r>
              <a:rPr lang="en-US" sz="1100" dirty="0">
                <a:solidFill>
                  <a:srgbClr val="000000"/>
                </a:solidFill>
                <a:latin typeface="Calibri" pitchFamily="34" charset="0"/>
                <a:ea typeface="Calibri" pitchFamily="34" charset="-122"/>
                <a:cs typeface="Calibri" pitchFamily="34" charset="-120"/>
              </a:rPr>
              <a:t>
</a:t>
            </a:r>
            <a:endParaRPr lang="en-US" sz="1100" dirty="0"/>
          </a:p>
          <a:p>
            <a:pPr marL="0" indent="0">
              <a:buNone/>
            </a:pPr>
            <a:r>
              <a:rPr lang="en-US" sz="1100" b="1" dirty="0">
                <a:solidFill>
                  <a:srgbClr val="F0A500"/>
                </a:solidFill>
                <a:latin typeface="Calibri" pitchFamily="34" charset="0"/>
                <a:ea typeface="Calibri" pitchFamily="34" charset="-122"/>
                <a:cs typeface="Calibri" pitchFamily="34" charset="-120"/>
              </a:rPr>
              <a:t>3. </a:t>
            </a:r>
            <a:r>
              <a:rPr lang="en-US" sz="1100" dirty="0">
                <a:solidFill>
                  <a:srgbClr val="333333"/>
                </a:solidFill>
                <a:latin typeface="Calibri" pitchFamily="34" charset="0"/>
                <a:ea typeface="Calibri" pitchFamily="34" charset="-122"/>
                <a:cs typeface="Calibri" pitchFamily="34" charset="-120"/>
              </a:rPr>
              <a:t>Hover → click </a:t>
            </a:r>
            <a:r>
              <a:rPr lang="en-US" sz="1100" b="1" dirty="0">
                <a:solidFill>
                  <a:srgbClr val="1A3A5C"/>
                </a:solidFill>
                <a:latin typeface="Calibri" pitchFamily="34" charset="0"/>
                <a:ea typeface="Calibri" pitchFamily="34" charset="-122"/>
                <a:cs typeface="Calibri" pitchFamily="34" charset="-120"/>
              </a:rPr>
              <a:t>Order Entry</a:t>
            </a:r>
            <a:r>
              <a:rPr lang="en-US" sz="1100" dirty="0">
                <a:solidFill>
                  <a:srgbClr val="333333"/>
                </a:solidFill>
                <a:latin typeface="Calibri" pitchFamily="34" charset="0"/>
                <a:ea typeface="Calibri" pitchFamily="34" charset="-122"/>
                <a:cs typeface="Calibri" pitchFamily="34" charset="-120"/>
              </a:rPr>
              <a:t>.</a:t>
            </a:r>
            <a:endParaRPr lang="en-US" sz="1100" dirty="0"/>
          </a:p>
        </p:txBody>
      </p:sp>
      <p:sp>
        <p:nvSpPr>
          <p:cNvPr id="7" name="Shape 5"/>
          <p:cNvSpPr/>
          <p:nvPr/>
        </p:nvSpPr>
        <p:spPr>
          <a:xfrm>
            <a:off x="365760" y="2377440"/>
            <a:ext cx="2377440" cy="640080"/>
          </a:xfrm>
          <a:prstGeom prst="roundRect">
            <a:avLst>
              <a:gd name="adj" fmla="val 11429"/>
            </a:avLst>
          </a:prstGeom>
          <a:solidFill>
            <a:srgbClr val="FFF8E6"/>
          </a:solidFill>
          <a:ln w="12700">
            <a:solidFill>
              <a:srgbClr val="F0A500"/>
            </a:solidFill>
            <a:prstDash val="solid"/>
          </a:ln>
        </p:spPr>
        <p:txBody>
          <a:bodyPr/>
          <a:lstStyle/>
          <a:p>
            <a:endParaRPr lang="en-US"/>
          </a:p>
        </p:txBody>
      </p:sp>
      <p:sp>
        <p:nvSpPr>
          <p:cNvPr id="8" name="Text 6"/>
          <p:cNvSpPr/>
          <p:nvPr/>
        </p:nvSpPr>
        <p:spPr>
          <a:xfrm>
            <a:off x="457200" y="2404872"/>
            <a:ext cx="2194560" cy="594360"/>
          </a:xfrm>
          <a:prstGeom prst="rect">
            <a:avLst/>
          </a:prstGeom>
          <a:noFill/>
          <a:ln/>
        </p:spPr>
        <p:txBody>
          <a:bodyPr wrap="square" lIns="38100" tIns="38100" rIns="38100" bIns="38100" rtlCol="0" anchor="ctr"/>
          <a:lstStyle/>
          <a:p>
            <a:pPr marL="0" indent="0">
              <a:buNone/>
            </a:pPr>
            <a:r>
              <a:rPr lang="en-US" sz="1000" dirty="0">
                <a:solidFill>
                  <a:srgbClr val="7A5800"/>
                </a:solidFill>
                <a:latin typeface="Calibri" pitchFamily="34" charset="0"/>
                <a:ea typeface="Calibri" pitchFamily="34" charset="-122"/>
                <a:cs typeface="Calibri" pitchFamily="34" charset="-120"/>
              </a:rPr>
              <a:t>⚠  EIP menus vary by role. If you don't see SG Inquiries, contact your supervisor</a:t>
            </a:r>
            <a:endParaRPr lang="en-US" sz="100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1 — Hover over SG Inquiries to reveal the submenu</a:t>
            </a:r>
            <a:endParaRPr lang="en-US" sz="950" dirty="0"/>
          </a:p>
        </p:txBody>
      </p:sp>
      <p:pic>
        <p:nvPicPr>
          <p:cNvPr id="11" name="ttsmaker-file-2026-6-22-14-3-3">
            <a:hlinkClick r:id="" action="ppaction://media"/>
            <a:extLst>
              <a:ext uri="{FF2B5EF4-FFF2-40B4-BE49-F238E27FC236}">
                <a16:creationId xmlns:a16="http://schemas.microsoft.com/office/drawing/2014/main" id="{955AAEBD-D948-8A08-0B6E-088D8151B37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9000"/>
    </mc:Choice>
    <mc:Fallback xmlns="">
      <p:transition spd="slow" advClick="0"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78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2</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Open Customer Service Inquiry</a:t>
            </a:r>
            <a:endParaRPr lang="en-US" sz="1800" dirty="0"/>
          </a:p>
        </p:txBody>
      </p:sp>
      <p:sp>
        <p:nvSpPr>
          <p:cNvPr id="6" name="Text 4"/>
          <p:cNvSpPr/>
          <p:nvPr/>
        </p:nvSpPr>
        <p:spPr>
          <a:xfrm>
            <a:off x="365760" y="777240"/>
            <a:ext cx="2377440" cy="777240"/>
          </a:xfrm>
          <a:prstGeom prst="rect">
            <a:avLst/>
          </a:prstGeom>
          <a:noFill/>
          <a:ln/>
        </p:spPr>
        <p:txBody>
          <a:bodyPr wrap="square" lIns="50800" tIns="50800" rIns="50800" bIns="50800" rtlCol="0" anchor="t"/>
          <a:lstStyle/>
          <a:p>
            <a:pPr marL="0" indent="0">
              <a:buNone/>
            </a:pPr>
            <a:r>
              <a:rPr lang="en-US" sz="1100" dirty="0">
                <a:solidFill>
                  <a:srgbClr val="333333"/>
                </a:solidFill>
                <a:latin typeface="Calibri" pitchFamily="34" charset="0"/>
                <a:ea typeface="Calibri" pitchFamily="34" charset="-122"/>
                <a:cs typeface="Calibri" pitchFamily="34" charset="-120"/>
              </a:rPr>
              <a:t>Clicking Order Entry opens the SG Inquiries — Order Entry landing page. Click the Customer Service Inquiry tile.</a:t>
            </a:r>
            <a:endParaRPr lang="en-US" sz="1100" dirty="0"/>
          </a:p>
        </p:txBody>
      </p:sp>
      <p:sp>
        <p:nvSpPr>
          <p:cNvPr id="7" name="Shape 5"/>
          <p:cNvSpPr/>
          <p:nvPr/>
        </p:nvSpPr>
        <p:spPr>
          <a:xfrm>
            <a:off x="365760" y="1645920"/>
            <a:ext cx="2377440" cy="1097280"/>
          </a:xfrm>
          <a:prstGeom prst="roundRect">
            <a:avLst>
              <a:gd name="adj" fmla="val 6667"/>
            </a:avLst>
          </a:prstGeom>
          <a:solidFill>
            <a:srgbClr val="E8F0FA"/>
          </a:solidFill>
          <a:ln w="12700">
            <a:solidFill>
              <a:srgbClr val="2E6DB4"/>
            </a:solidFill>
            <a:prstDash val="solid"/>
          </a:ln>
        </p:spPr>
        <p:txBody>
          <a:bodyPr/>
          <a:lstStyle/>
          <a:p>
            <a:endParaRPr lang="en-US"/>
          </a:p>
        </p:txBody>
      </p:sp>
      <p:sp>
        <p:nvSpPr>
          <p:cNvPr id="8" name="Text 6"/>
          <p:cNvSpPr/>
          <p:nvPr/>
        </p:nvSpPr>
        <p:spPr>
          <a:xfrm>
            <a:off x="457200" y="1673352"/>
            <a:ext cx="2194560" cy="1051560"/>
          </a:xfrm>
          <a:prstGeom prst="rect">
            <a:avLst/>
          </a:prstGeom>
          <a:noFill/>
          <a:ln/>
        </p:spPr>
        <p:txBody>
          <a:bodyPr wrap="square" lIns="50800" tIns="50800" rIns="50800" bIns="50800" rtlCol="0" anchor="ctr"/>
          <a:lstStyle/>
          <a:p>
            <a:pPr marL="0" indent="0">
              <a:buNone/>
            </a:pPr>
            <a:r>
              <a:rPr lang="en-US" sz="1050" b="1" dirty="0">
                <a:solidFill>
                  <a:srgbClr val="1A3A5C"/>
                </a:solidFill>
                <a:latin typeface="Calibri" pitchFamily="34" charset="0"/>
                <a:ea typeface="Calibri" pitchFamily="34" charset="-122"/>
                <a:cs typeface="Calibri" pitchFamily="34" charset="-120"/>
              </a:rPr>
              <a:t>Search fields:
</a:t>
            </a:r>
            <a:endParaRPr lang="en-US" sz="1050" dirty="0"/>
          </a:p>
          <a:p>
            <a:pPr marL="0" indent="0">
              <a:buNone/>
            </a:pPr>
            <a:r>
              <a:rPr lang="en-US" sz="1050" i="1" dirty="0">
                <a:solidFill>
                  <a:srgbClr val="333333"/>
                </a:solidFill>
                <a:latin typeface="Calibri" pitchFamily="34" charset="0"/>
                <a:ea typeface="Calibri" pitchFamily="34" charset="-122"/>
                <a:cs typeface="Calibri" pitchFamily="34" charset="-120"/>
              </a:rPr>
              <a:t>Order #, Invoice #, name, phone, P/O#, city/state, item #/description</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2 — Order Entry landing page</a:t>
            </a:r>
            <a:endParaRPr lang="en-US" sz="950" dirty="0"/>
          </a:p>
        </p:txBody>
      </p:sp>
      <p:pic>
        <p:nvPicPr>
          <p:cNvPr id="11" name="ttsmaker-file-2026-6-22-14-6-21">
            <a:hlinkClick r:id="" action="ppaction://media"/>
            <a:extLst>
              <a:ext uri="{FF2B5EF4-FFF2-40B4-BE49-F238E27FC236}">
                <a16:creationId xmlns:a16="http://schemas.microsoft.com/office/drawing/2014/main" id="{2C41AC1E-7A7E-422A-6CC3-E27A480A40D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5000"/>
    </mc:Choice>
    <mc:Fallback xmlns="">
      <p:transition spd="slow" advClick="0" advTm="2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6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3</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The Search Screen</a:t>
            </a:r>
            <a:endParaRPr lang="en-US" sz="1800" dirty="0"/>
          </a:p>
        </p:txBody>
      </p:sp>
      <p:sp>
        <p:nvSpPr>
          <p:cNvPr id="6" name="Text 4"/>
          <p:cNvSpPr/>
          <p:nvPr/>
        </p:nvSpPr>
        <p:spPr>
          <a:xfrm>
            <a:off x="365760" y="777240"/>
            <a:ext cx="237744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Enter any partial value to search across all fields at once:</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43000"/>
          <a:ext cx="2834640" cy="3383280"/>
        </p:xfrm>
        <a:graphic>
          <a:graphicData uri="http://schemas.openxmlformats.org/drawingml/2006/table">
            <a:tbl>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3383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Example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Order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353943</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Invoice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21659</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904-827</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FCC ST JOHNS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DOT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1197391</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Asset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UNIT# 20020</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Item Desc</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ROLLOFF</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4610131092</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38328">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Customer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3092110</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8"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9" name="Shape 5"/>
          <p:cNvSpPr/>
          <p:nvPr/>
        </p:nvSpPr>
        <p:spPr>
          <a:xfrm>
            <a:off x="2926080" y="3324497"/>
            <a:ext cx="5943600" cy="254726"/>
          </a:xfrm>
          <a:prstGeom prst="roundRect">
            <a:avLst>
              <a:gd name="adj" fmla="val 13333"/>
            </a:avLst>
          </a:prstGeom>
          <a:solidFill>
            <a:srgbClr val="FFF8E6"/>
          </a:solidFill>
          <a:ln w="12700">
            <a:solidFill>
              <a:srgbClr val="F0A500"/>
            </a:solidFill>
            <a:prstDash val="solid"/>
          </a:ln>
        </p:spPr>
        <p:txBody>
          <a:bodyPr/>
          <a:lstStyle/>
          <a:p>
            <a:endParaRPr lang="en-US"/>
          </a:p>
        </p:txBody>
      </p:sp>
      <p:sp>
        <p:nvSpPr>
          <p:cNvPr id="10" name="Text 6"/>
          <p:cNvSpPr/>
          <p:nvPr/>
        </p:nvSpPr>
        <p:spPr>
          <a:xfrm>
            <a:off x="3017520" y="3227832"/>
            <a:ext cx="5760720" cy="502920"/>
          </a:xfrm>
          <a:prstGeom prst="rect">
            <a:avLst/>
          </a:prstGeom>
          <a:noFill/>
          <a:ln/>
        </p:spPr>
        <p:txBody>
          <a:bodyPr wrap="square" lIns="38100" tIns="38100" rIns="38100" bIns="38100" rtlCol="0" anchor="ctr"/>
          <a:lstStyle/>
          <a:p>
            <a:pPr marL="0" indent="0">
              <a:buNone/>
            </a:pPr>
            <a:r>
              <a:rPr lang="en-US" sz="1000" dirty="0">
                <a:solidFill>
                  <a:srgbClr val="7A5800"/>
                </a:solidFill>
                <a:latin typeface="Calibri" pitchFamily="34" charset="0"/>
                <a:ea typeface="Calibri" pitchFamily="34" charset="-122"/>
                <a:cs typeface="Calibri" pitchFamily="34" charset="-120"/>
              </a:rPr>
              <a:t>⚠  Results limited to 1,000 lines. Use a more specific value if needed.</a:t>
            </a:r>
            <a:endParaRPr lang="en-US" sz="1000" dirty="0"/>
          </a:p>
        </p:txBody>
      </p:sp>
      <p:sp>
        <p:nvSpPr>
          <p:cNvPr id="11"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3 — Customer Service Inquiry search screen</a:t>
            </a:r>
            <a:endParaRPr lang="en-US" sz="950" dirty="0"/>
          </a:p>
        </p:txBody>
      </p:sp>
      <p:pic>
        <p:nvPicPr>
          <p:cNvPr id="12" name="ttsmaker-file-2026-6-22-14-8-59">
            <a:hlinkClick r:id="" action="ppaction://media"/>
            <a:extLst>
              <a:ext uri="{FF2B5EF4-FFF2-40B4-BE49-F238E27FC236}">
                <a16:creationId xmlns:a16="http://schemas.microsoft.com/office/drawing/2014/main" id="{D75662EE-FE78-A9D9-61EF-002E39513614}"/>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5000"/>
    </mc:Choice>
    <mc:Fallback xmlns="">
      <p:transition spd="slow" advClick="0" advTm="3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4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4</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Reading the Search Results</a:t>
            </a:r>
            <a:endParaRPr lang="en-US" sz="1800" dirty="0"/>
          </a:p>
        </p:txBody>
      </p:sp>
      <p:sp>
        <p:nvSpPr>
          <p:cNvPr id="6" name="Text 4"/>
          <p:cNvSpPr/>
          <p:nvPr/>
        </p:nvSpPr>
        <p:spPr>
          <a:xfrm>
            <a:off x="365760" y="777240"/>
            <a:ext cx="2377440" cy="3657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Results are grouped by order. Clickable fields open a new window:</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2117310571"/>
              </p:ext>
            </p:extLst>
          </p:nvPr>
        </p:nvGraphicFramePr>
        <p:xfrm>
          <a:off x="365760" y="1188720"/>
          <a:ext cx="2834640" cy="3605784"/>
        </p:xfrm>
        <a:graphic>
          <a:graphicData uri="http://schemas.openxmlformats.org/drawingml/2006/table">
            <a:tbl>
              <a:tblPr/>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35661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Order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full order detail</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Customer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customer record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Inv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the invoice</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Item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item record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MO #</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Opens manufacturing </a:t>
                      </a:r>
                    </a:p>
                    <a:p>
                      <a:pPr marL="0" indent="0">
                        <a:buNone/>
                      </a:pPr>
                      <a:r>
                        <a:rPr lang="en-US" sz="1000" dirty="0">
                          <a:solidFill>
                            <a:srgbClr val="333333"/>
                          </a:solidFill>
                          <a:latin typeface="Calibri" pitchFamily="34" charset="0"/>
                          <a:ea typeface="Calibri" pitchFamily="34" charset="-122"/>
                          <a:cs typeface="Calibri" pitchFamily="34" charset="-120"/>
                        </a:rPr>
                        <a:t>order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OPEN or CLOSED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P/O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Purchase order number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Booked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Date order was entered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56616">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Slsp / CS Rep</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Salesperson &amp; CS rep</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pic>
        <p:nvPicPr>
          <p:cNvPr id="8"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9" name="Text 5"/>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4 — Search results with orders and line items</a:t>
            </a:r>
            <a:endParaRPr lang="en-US" sz="950" dirty="0"/>
          </a:p>
        </p:txBody>
      </p:sp>
      <p:pic>
        <p:nvPicPr>
          <p:cNvPr id="10" name="ttsmaker-file-2026-6-22-14-11-6">
            <a:hlinkClick r:id="" action="ppaction://media"/>
            <a:extLst>
              <a:ext uri="{FF2B5EF4-FFF2-40B4-BE49-F238E27FC236}">
                <a16:creationId xmlns:a16="http://schemas.microsoft.com/office/drawing/2014/main" id="{0A631775-D61C-FF1D-7494-EE0D3272ADF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50000"/>
    </mc:Choice>
    <mc:Fallback xmlns="">
      <p:transition spd="slow" advClick="0" advTm="50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21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5</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Order Detail — Order, Open or History</a:t>
            </a:r>
            <a:endParaRPr lang="en-US" sz="1800" dirty="0"/>
          </a:p>
        </p:txBody>
      </p:sp>
      <p:sp>
        <p:nvSpPr>
          <p:cNvPr id="6" name="Text 4"/>
          <p:cNvSpPr/>
          <p:nvPr/>
        </p:nvSpPr>
        <p:spPr>
          <a:xfrm>
            <a:off x="365760" y="777240"/>
            <a:ext cx="2377440" cy="36576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Order # to open the full Order History in a new window:</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2834640" cy="1920240"/>
        </p:xfrm>
        <a:graphic>
          <a:graphicData uri="http://schemas.openxmlformats.org/drawingml/2006/table">
            <a:tbl>
              <a:tblPr/>
              <a:tblGrid>
                <a:gridCol w="10058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Tab</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Contents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Header</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Dates, terms, ship method</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Comment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Order notes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Flags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Special flags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Shipment</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Tracking info</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20040">
                <a:tc>
                  <a:txBody>
                    <a:bodyPr/>
                    <a:lstStyle/>
                    <a:p>
                      <a:pPr marL="0" indent="0">
                        <a:buNone/>
                      </a:pPr>
                      <a:r>
                        <a:rPr lang="en-US" sz="1000" b="1" dirty="0">
                          <a:solidFill>
                            <a:srgbClr val="2E6DB4"/>
                          </a:solidFill>
                          <a:latin typeface="Calibri" pitchFamily="34" charset="0"/>
                          <a:ea typeface="Calibri" pitchFamily="34" charset="-122"/>
                          <a:cs typeface="Calibri" pitchFamily="34" charset="-120"/>
                        </a:rPr>
                        <a:t>Summary</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tc>
                  <a:txBody>
                    <a:bodyPr/>
                    <a:lstStyle/>
                    <a:p>
                      <a:pPr marL="0" indent="0">
                        <a:buNone/>
                      </a:pPr>
                      <a:r>
                        <a:rPr lang="en-US" sz="1000" dirty="0">
                          <a:solidFill>
                            <a:srgbClr val="333333"/>
                          </a:solidFill>
                          <a:latin typeface="Calibri" pitchFamily="34" charset="0"/>
                          <a:ea typeface="Calibri" pitchFamily="34" charset="-122"/>
                          <a:cs typeface="Calibri" pitchFamily="34" charset="-120"/>
                        </a:rPr>
                        <a:t>Addresses, lines, totals</a:t>
                      </a:r>
                      <a:endParaRPr lang="en-US" sz="1000" dirty="0">
                        <a:latin typeface="Calibri" charset="0"/>
                        <a:ea typeface="Calibri" charset="0"/>
                        <a:cs typeface="Calibri" charset="0"/>
                      </a:endParaRPr>
                    </a:p>
                  </a:txBody>
                  <a:tcPr>
                    <a:lnL w="6350" cap="flat" cmpd="sng" algn="ctr">
                      <a:solidFill>
                        <a:srgbClr val="C5D5E8"/>
                      </a:solidFill>
                      <a:prstDash val="solid"/>
                      <a:round/>
                      <a:headEnd type="none" w="med" len="med"/>
                      <a:tailEnd type="none" w="med" len="med"/>
                    </a:lnL>
                    <a:lnR w="6350" cap="flat" cmpd="sng" algn="ctr">
                      <a:solidFill>
                        <a:srgbClr val="C5D5E8"/>
                      </a:solidFill>
                      <a:prstDash val="solid"/>
                      <a:round/>
                      <a:headEnd type="none" w="med" len="med"/>
                      <a:tailEnd type="none" w="med" len="med"/>
                    </a:lnR>
                    <a:lnT w="6350" cap="flat" cmpd="sng" algn="ctr">
                      <a:solidFill>
                        <a:srgbClr val="C5D5E8"/>
                      </a:solidFill>
                      <a:prstDash val="solid"/>
                      <a:round/>
                      <a:headEnd type="none" w="med" len="med"/>
                      <a:tailEnd type="none" w="med" len="med"/>
                    </a:lnT>
                    <a:lnB w="6350" cap="flat" cmpd="sng" algn="ctr">
                      <a:solidFill>
                        <a:srgbClr val="C5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0"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1"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5 — Order History Summary tab</a:t>
            </a:r>
            <a:endParaRPr lang="en-US" sz="950" dirty="0"/>
          </a:p>
        </p:txBody>
      </p:sp>
      <p:pic>
        <p:nvPicPr>
          <p:cNvPr id="8" name="ttsmaker-file-2026-6-22-6">
            <a:hlinkClick r:id="" action="ppaction://media"/>
            <a:extLst>
              <a:ext uri="{FF2B5EF4-FFF2-40B4-BE49-F238E27FC236}">
                <a16:creationId xmlns:a16="http://schemas.microsoft.com/office/drawing/2014/main" id="{51A38AA5-9FB9-A48C-95DA-8CD4EA142AE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Click="0" advTm="53000"/>
    </mc:Choice>
    <mc:Fallback>
      <p:transition spd="slow" advClick="0" advTm="5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147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6</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Customer Record</a:t>
            </a:r>
            <a:endParaRPr lang="en-US" sz="1800" dirty="0"/>
          </a:p>
        </p:txBody>
      </p:sp>
      <p:sp>
        <p:nvSpPr>
          <p:cNvPr id="6" name="Text 4"/>
          <p:cNvSpPr/>
          <p:nvPr/>
        </p:nvSpPr>
        <p:spPr>
          <a:xfrm>
            <a:off x="365760" y="777240"/>
            <a:ext cx="2377440" cy="5029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the customer number in any order header to open their full record in a new window.</a:t>
            </a:r>
            <a:endParaRPr lang="en-US" sz="1100" dirty="0"/>
          </a:p>
        </p:txBody>
      </p:sp>
      <p:sp>
        <p:nvSpPr>
          <p:cNvPr id="7" name="Text 5"/>
          <p:cNvSpPr/>
          <p:nvPr/>
        </p:nvSpPr>
        <p:spPr>
          <a:xfrm>
            <a:off x="365760" y="1353312"/>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Available from the customer page:</a:t>
            </a:r>
            <a:endParaRPr lang="en-US" sz="1100" dirty="0"/>
          </a:p>
        </p:txBody>
      </p:sp>
      <p:sp>
        <p:nvSpPr>
          <p:cNvPr id="8" name="Text 6"/>
          <p:cNvSpPr/>
          <p:nvPr/>
        </p:nvSpPr>
        <p:spPr>
          <a:xfrm>
            <a:off x="365760" y="1645920"/>
            <a:ext cx="2377440" cy="228600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A/R Aging, Open Orders, Order History</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Invoices &amp; Pending Payments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Attachments, Comments, Fax/E-mail</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Customer Items, YTD Top Items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Availability, Demographics, Contacts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Drop Ship, Open Items, User-Defined</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6 — Customer home page</a:t>
            </a:r>
            <a:endParaRPr lang="en-US" sz="950" dirty="0"/>
          </a:p>
        </p:txBody>
      </p:sp>
      <p:pic>
        <p:nvPicPr>
          <p:cNvPr id="11" name="ttsmaker-file-2026-6-22-14-28-38">
            <a:hlinkClick r:id="" action="ppaction://media"/>
            <a:extLst>
              <a:ext uri="{FF2B5EF4-FFF2-40B4-BE49-F238E27FC236}">
                <a16:creationId xmlns:a16="http://schemas.microsoft.com/office/drawing/2014/main" id="{52EC0D0E-A670-85C7-4937-96F149E2D1F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9000"/>
    </mc:Choice>
    <mc:Fallback xmlns="">
      <p:transition spd="slow" advClick="0" advTm="3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792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7</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an Invoice</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Invoice # in the results or on the customer page to open the full invoice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invoice includes: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Bill-To and Drop Ship addresses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Terms, salesperson, dates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Reference #, ship via, order #</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Line items with quantities &amp; pricing</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Payment &amp; remit-to information</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7 — Invoice detail</a:t>
            </a:r>
            <a:endParaRPr lang="en-US" sz="950" dirty="0"/>
          </a:p>
        </p:txBody>
      </p:sp>
      <p:pic>
        <p:nvPicPr>
          <p:cNvPr id="11" name="ttsmaker-file-2026-6-22-14-32-3">
            <a:hlinkClick r:id="" action="ppaction://media"/>
            <a:extLst>
              <a:ext uri="{FF2B5EF4-FFF2-40B4-BE49-F238E27FC236}">
                <a16:creationId xmlns:a16="http://schemas.microsoft.com/office/drawing/2014/main" id="{D217A56E-D85C-AEC7-49E7-7571B8C1B80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4000"/>
    </mc:Choice>
    <mc:Fallback xmlns="">
      <p:transition spd="slow" advClick="0" advTm="2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22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8</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 Manufacturing Order</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MO # in the search results to open the Manufacturing Order detail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MO detail shows: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Item being produced and plant</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Quantities: Ordered, Received, Scrapped, Balance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Transaction history with dates &amp; codes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Components / bill of materials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Labor Hours and routing operations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Labor Quantities by dept &amp; work center</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8 — Manufacturing Order detail</a:t>
            </a:r>
            <a:endParaRPr lang="en-US" sz="950" dirty="0"/>
          </a:p>
        </p:txBody>
      </p:sp>
      <p:pic>
        <p:nvPicPr>
          <p:cNvPr id="11" name="ttsmaker-file-2026-6-22-14-35-24">
            <a:hlinkClick r:id="" action="ppaction://media"/>
            <a:extLst>
              <a:ext uri="{FF2B5EF4-FFF2-40B4-BE49-F238E27FC236}">
                <a16:creationId xmlns:a16="http://schemas.microsoft.com/office/drawing/2014/main" id="{51EB0D1D-E825-9321-AF71-687ABA2DD6C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44000"/>
    </mc:Choice>
    <mc:Fallback xmlns="">
      <p:transition spd="slow" advClick="0" advTm="44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24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txBody>
          <a:bodyPr/>
          <a:lstStyle/>
          <a:p>
            <a:endParaRPr lang="en-US"/>
          </a:p>
        </p:txBody>
      </p:sp>
      <p:sp>
        <p:nvSpPr>
          <p:cNvPr id="3" name="Shape 1"/>
          <p:cNvSpPr/>
          <p:nvPr/>
        </p:nvSpPr>
        <p:spPr>
          <a:xfrm>
            <a:off x="274320" y="118872"/>
            <a:ext cx="457200" cy="457200"/>
          </a:xfrm>
          <a:prstGeom prst="ellipse">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274320" y="118872"/>
            <a:ext cx="457200" cy="457200"/>
          </a:xfrm>
          <a:prstGeom prst="rect">
            <a:avLst/>
          </a:prstGeom>
          <a:noFill/>
          <a:ln/>
        </p:spPr>
        <p:txBody>
          <a:bodyPr wrap="square" lIns="0" tIns="0" rIns="0" bIns="0" rtlCol="0" anchor="ctr"/>
          <a:lstStyle/>
          <a:p>
            <a:pPr marL="0" indent="0" algn="ctr">
              <a:buNone/>
            </a:pPr>
            <a:r>
              <a:rPr lang="en-US" sz="1400" b="1" dirty="0">
                <a:solidFill>
                  <a:srgbClr val="1A3A5C"/>
                </a:solidFill>
                <a:latin typeface="Calibri" pitchFamily="34" charset="0"/>
                <a:ea typeface="Calibri" pitchFamily="34" charset="-122"/>
                <a:cs typeface="Calibri" pitchFamily="34" charset="-120"/>
              </a:rPr>
              <a:t>9</a:t>
            </a:r>
            <a:endParaRPr lang="en-US" sz="1400" dirty="0"/>
          </a:p>
        </p:txBody>
      </p:sp>
      <p:sp>
        <p:nvSpPr>
          <p:cNvPr id="5" name="Text 3"/>
          <p:cNvSpPr/>
          <p:nvPr/>
        </p:nvSpPr>
        <p:spPr>
          <a:xfrm>
            <a:off x="868680" y="109728"/>
            <a:ext cx="795528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View an Item Record</a:t>
            </a:r>
            <a:endParaRPr lang="en-US" sz="1800" dirty="0"/>
          </a:p>
        </p:txBody>
      </p:sp>
      <p:sp>
        <p:nvSpPr>
          <p:cNvPr id="6" name="Text 4"/>
          <p:cNvSpPr/>
          <p:nvPr/>
        </p:nvSpPr>
        <p:spPr>
          <a:xfrm>
            <a:off x="365760" y="777240"/>
            <a:ext cx="23774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Click any Item # in the search results to open the full item record in a new window.</a:t>
            </a:r>
            <a:endParaRPr lang="en-US" sz="1100" dirty="0"/>
          </a:p>
        </p:txBody>
      </p:sp>
      <p:sp>
        <p:nvSpPr>
          <p:cNvPr id="7" name="Text 5"/>
          <p:cNvSpPr/>
          <p:nvPr/>
        </p:nvSpPr>
        <p:spPr>
          <a:xfrm>
            <a:off x="365760" y="1417320"/>
            <a:ext cx="2377440" cy="256032"/>
          </a:xfrm>
          <a:prstGeom prst="rect">
            <a:avLst/>
          </a:prstGeom>
          <a:noFill/>
          <a:ln/>
        </p:spPr>
        <p:txBody>
          <a:bodyPr wrap="square" lIns="0" tIns="0" rIns="0" bIns="0"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The item record includes:</a:t>
            </a:r>
            <a:endParaRPr lang="en-US" sz="1100" dirty="0"/>
          </a:p>
        </p:txBody>
      </p:sp>
      <p:sp>
        <p:nvSpPr>
          <p:cNvPr id="8" name="Text 6"/>
          <p:cNvSpPr/>
          <p:nvPr/>
        </p:nvSpPr>
        <p:spPr>
          <a:xfrm>
            <a:off x="365760" y="1691640"/>
            <a:ext cx="2377440" cy="2194560"/>
          </a:xfrm>
          <a:prstGeom prst="rect">
            <a:avLst/>
          </a:prstGeom>
          <a:noFill/>
          <a:ln/>
        </p:spPr>
        <p:txBody>
          <a:bodyPr wrap="square" lIns="50800" tIns="50800" rIns="50800" bIns="50800" rtlCol="0" anchor="t"/>
          <a:lstStyle/>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Item number, description, unit of measure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Available to Promise — demand by date</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Cost Summary — material, labor, total cost</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Demand, Product Structure, Routing</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Warehouses, Plants, Demographics</a:t>
            </a:r>
            <a:endParaRPr lang="en-US" sz="1050" dirty="0"/>
          </a:p>
          <a:p>
            <a:pPr marL="342900" indent="-342900">
              <a:buSzPct val="100000"/>
              <a:buChar char="•"/>
            </a:pPr>
            <a:r>
              <a:rPr lang="en-US" sz="1050" dirty="0">
                <a:solidFill>
                  <a:srgbClr val="333333"/>
                </a:solidFill>
                <a:latin typeface="Calibri" pitchFamily="34" charset="0"/>
                <a:ea typeface="Calibri" pitchFamily="34" charset="-122"/>
                <a:cs typeface="Calibri" pitchFamily="34" charset="-120"/>
              </a:rPr>
              <a:t>Attachments &amp; Extended Descriptions</a:t>
            </a:r>
            <a:endParaRPr lang="en-US" sz="1050" dirty="0"/>
          </a:p>
        </p:txBody>
      </p:sp>
      <p:pic>
        <p:nvPicPr>
          <p:cNvPr id="9" name="Image 0" descr="preencoded.png"/>
          <p:cNvPicPr>
            <a:picLocks noChangeAspect="1"/>
          </p:cNvPicPr>
          <p:nvPr/>
        </p:nvPicPr>
        <p:blipFill>
          <a:blip r:embed="rId5"/>
          <a:srcRect/>
          <a:stretch/>
        </p:blipFill>
        <p:spPr>
          <a:xfrm>
            <a:off x="2926080" y="777240"/>
            <a:ext cx="5943600" cy="4114800"/>
          </a:xfrm>
          <a:prstGeom prst="rect">
            <a:avLst/>
          </a:prstGeom>
          <a:effectLst>
            <a:outerShdw blurRad="101600" dist="25400" dir="2700000" algn="bl" rotWithShape="0">
              <a:srgbClr val="000000">
                <a:alpha val="12000"/>
              </a:srgbClr>
            </a:outerShdw>
          </a:effectLst>
        </p:spPr>
      </p:pic>
      <p:sp>
        <p:nvSpPr>
          <p:cNvPr id="10" name="Text 7"/>
          <p:cNvSpPr/>
          <p:nvPr/>
        </p:nvSpPr>
        <p:spPr>
          <a:xfrm>
            <a:off x="2926080" y="4828032"/>
            <a:ext cx="5943600" cy="201168"/>
          </a:xfrm>
          <a:prstGeom prst="rect">
            <a:avLst/>
          </a:prstGeom>
          <a:noFill/>
          <a:ln/>
        </p:spPr>
        <p:txBody>
          <a:bodyPr wrap="square" lIns="0" tIns="0" rIns="0" bIns="0" rtlCol="0" anchor="ctr"/>
          <a:lstStyle/>
          <a:p>
            <a:pPr marL="0" indent="0" algn="ctr">
              <a:buNone/>
            </a:pPr>
            <a:r>
              <a:rPr lang="en-US" sz="950" i="1" dirty="0">
                <a:solidFill>
                  <a:srgbClr val="5A6A7A"/>
                </a:solidFill>
                <a:latin typeface="Calibri" pitchFamily="34" charset="0"/>
                <a:ea typeface="Calibri" pitchFamily="34" charset="-122"/>
                <a:cs typeface="Calibri" pitchFamily="34" charset="-120"/>
              </a:rPr>
              <a:t>Fig. 9 — Item record detail</a:t>
            </a:r>
            <a:endParaRPr lang="en-US" sz="950" dirty="0"/>
          </a:p>
        </p:txBody>
      </p:sp>
      <p:pic>
        <p:nvPicPr>
          <p:cNvPr id="12" name="ttsmaker-file-2026-6-22-14-37-49">
            <a:hlinkClick r:id="" action="ppaction://media"/>
            <a:extLst>
              <a:ext uri="{FF2B5EF4-FFF2-40B4-BE49-F238E27FC236}">
                <a16:creationId xmlns:a16="http://schemas.microsoft.com/office/drawing/2014/main" id="{C830796C-D2F3-11D0-0973-A8D29DFC35B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33000"/>
    </mc:Choice>
    <mc:Fallback xmlns="">
      <p:transition spd="slow" advClick="0" advTm="3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94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A500"/>
          </a:solidFill>
          <a:ln w="12700">
            <a:solidFill>
              <a:srgbClr val="F0A500"/>
            </a:solidFill>
            <a:prstDash val="solid"/>
          </a:ln>
        </p:spPr>
        <p:txBody>
          <a:bodyPr/>
          <a:lstStyle/>
          <a:p>
            <a:endParaRPr lang="en-US"/>
          </a:p>
        </p:txBody>
      </p:sp>
      <p:sp>
        <p:nvSpPr>
          <p:cNvPr id="3" name="Shape 1"/>
          <p:cNvSpPr/>
          <p:nvPr/>
        </p:nvSpPr>
        <p:spPr>
          <a:xfrm>
            <a:off x="0" y="5070348"/>
            <a:ext cx="9144000" cy="73152"/>
          </a:xfrm>
          <a:prstGeom prst="rect">
            <a:avLst/>
          </a:prstGeom>
          <a:solidFill>
            <a:srgbClr val="F0A500"/>
          </a:solidFill>
          <a:ln w="12700">
            <a:solidFill>
              <a:srgbClr val="F0A500"/>
            </a:solidFill>
            <a:prstDash val="solid"/>
          </a:ln>
        </p:spPr>
        <p:txBody>
          <a:bodyPr/>
          <a:lstStyle/>
          <a:p>
            <a:endParaRPr lang="en-US"/>
          </a:p>
        </p:txBody>
      </p:sp>
      <p:sp>
        <p:nvSpPr>
          <p:cNvPr id="4" name="Text 2"/>
          <p:cNvSpPr/>
          <p:nvPr/>
        </p:nvSpPr>
        <p:spPr>
          <a:xfrm>
            <a:off x="548640" y="1097280"/>
            <a:ext cx="8046720" cy="82296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Questions?</a:t>
            </a:r>
            <a:endParaRPr lang="en-US" sz="4200" dirty="0"/>
          </a:p>
        </p:txBody>
      </p:sp>
      <p:sp>
        <p:nvSpPr>
          <p:cNvPr id="5" name="Text 3"/>
          <p:cNvSpPr/>
          <p:nvPr/>
        </p:nvSpPr>
        <p:spPr>
          <a:xfrm>
            <a:off x="548640" y="2011680"/>
            <a:ext cx="8046720" cy="457200"/>
          </a:xfrm>
          <a:prstGeom prst="rect">
            <a:avLst/>
          </a:prstGeom>
          <a:noFill/>
          <a:ln/>
        </p:spPr>
        <p:txBody>
          <a:bodyPr wrap="square" lIns="0" tIns="0" rIns="0" bIns="0" rtlCol="0" anchor="ctr"/>
          <a:lstStyle/>
          <a:p>
            <a:pPr marL="0" indent="0">
              <a:buNone/>
            </a:pPr>
            <a:r>
              <a:rPr lang="en-US" sz="1800" dirty="0">
                <a:solidFill>
                  <a:srgbClr val="F0A500"/>
                </a:solidFill>
                <a:latin typeface="Calibri" pitchFamily="34" charset="0"/>
                <a:ea typeface="Calibri" pitchFamily="34" charset="-122"/>
                <a:cs typeface="Calibri" pitchFamily="34" charset="-120"/>
              </a:rPr>
              <a:t>Contact Screen Graphics IT for training or support.</a:t>
            </a:r>
            <a:endParaRPr lang="en-US" sz="1800" dirty="0"/>
          </a:p>
        </p:txBody>
      </p:sp>
      <p:sp>
        <p:nvSpPr>
          <p:cNvPr id="6" name="Text 4"/>
          <p:cNvSpPr/>
          <p:nvPr/>
        </p:nvSpPr>
        <p:spPr>
          <a:xfrm>
            <a:off x="548640" y="2651760"/>
            <a:ext cx="8046720" cy="1097280"/>
          </a:xfrm>
          <a:prstGeom prst="rect">
            <a:avLst/>
          </a:prstGeom>
          <a:noFill/>
          <a:ln/>
        </p:spPr>
        <p:txBody>
          <a:bodyPr wrap="square" lIns="0" tIns="0" rIns="0" bIns="0" rtlCol="0" anchor="ctr"/>
          <a:lstStyle/>
          <a:p>
            <a:pPr marL="0" indent="0">
              <a:buNone/>
            </a:pPr>
            <a:r>
              <a:rPr lang="en-US" sz="1400" dirty="0">
                <a:solidFill>
                  <a:srgbClr val="8AB4D8"/>
                </a:solidFill>
                <a:latin typeface="Calibri" pitchFamily="34" charset="0"/>
                <a:ea typeface="Calibri" pitchFamily="34" charset="-122"/>
                <a:cs typeface="Calibri" pitchFamily="34" charset="-120"/>
              </a:rPr>
              <a:t>sgit@screen-graphics.com</a:t>
            </a:r>
            <a:endParaRPr lang="en-US" sz="1400" dirty="0"/>
          </a:p>
          <a:p>
            <a:pPr marL="0" indent="0">
              <a:buNone/>
            </a:pPr>
            <a:r>
              <a:rPr lang="en-US" sz="1400" dirty="0">
                <a:solidFill>
                  <a:srgbClr val="8AB4D8"/>
                </a:solidFill>
                <a:latin typeface="Calibri" pitchFamily="34" charset="0"/>
                <a:ea typeface="Calibri" pitchFamily="34" charset="-122"/>
                <a:cs typeface="Calibri" pitchFamily="34" charset="-120"/>
              </a:rPr>
              <a:t>800-346-4420</a:t>
            </a:r>
            <a:endParaRPr lang="en-US" sz="1400" dirty="0"/>
          </a:p>
          <a:p>
            <a:pPr marL="0" indent="0">
              <a:buNone/>
            </a:pPr>
            <a:r>
              <a:rPr lang="en-US" sz="1400" dirty="0">
                <a:solidFill>
                  <a:srgbClr val="8AB4D8"/>
                </a:solidFill>
                <a:latin typeface="Calibri" pitchFamily="34" charset="0"/>
                <a:ea typeface="Calibri" pitchFamily="34" charset="-122"/>
                <a:cs typeface="Calibri" pitchFamily="34" charset="-120"/>
              </a:rPr>
              <a:t>screen-graphics.com</a:t>
            </a:r>
            <a:endParaRPr lang="en-US" sz="1400" dirty="0"/>
          </a:p>
        </p:txBody>
      </p:sp>
      <p:sp>
        <p:nvSpPr>
          <p:cNvPr id="7" name="Text 5"/>
          <p:cNvSpPr/>
          <p:nvPr/>
        </p:nvSpPr>
        <p:spPr>
          <a:xfrm>
            <a:off x="548640" y="4480560"/>
            <a:ext cx="8046720" cy="320040"/>
          </a:xfrm>
          <a:prstGeom prst="rect">
            <a:avLst/>
          </a:prstGeom>
          <a:noFill/>
          <a:ln/>
        </p:spPr>
        <p:txBody>
          <a:bodyPr wrap="square" lIns="0" tIns="0" rIns="0" bIns="0" rtlCol="0" anchor="ctr"/>
          <a:lstStyle/>
          <a:p>
            <a:pPr marL="0" indent="0" algn="ctr">
              <a:buNone/>
            </a:pPr>
            <a:r>
              <a:rPr lang="en-US" sz="1100" dirty="0">
                <a:solidFill>
                  <a:srgbClr val="8AB4D8"/>
                </a:solidFill>
                <a:latin typeface="Calibri" pitchFamily="34" charset="0"/>
                <a:ea typeface="Calibri" pitchFamily="34" charset="-122"/>
                <a:cs typeface="Calibri" pitchFamily="34" charset="-120"/>
              </a:rPr>
              <a:t>3200 W. Prospect Rd.  ·  Fort Lauderdale, FL 33309</a:t>
            </a:r>
            <a:endParaRPr lang="en-US" sz="1100" dirty="0"/>
          </a:p>
        </p:txBody>
      </p:sp>
      <p:pic>
        <p:nvPicPr>
          <p:cNvPr id="8" name="ttsmaker-file-2026-6-22-14-42-6">
            <a:hlinkClick r:id="" action="ppaction://media"/>
            <a:extLst>
              <a:ext uri="{FF2B5EF4-FFF2-40B4-BE49-F238E27FC236}">
                <a16:creationId xmlns:a16="http://schemas.microsoft.com/office/drawing/2014/main" id="{4FB96BCF-DE72-530E-B625-E211EC26D84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267200" y="2266950"/>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19000"/>
    </mc:Choice>
    <mc:Fallback xmlns="">
      <p:transition spd="slow" advClick="0" advTm="19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840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1824</Words>
  <Application>Microsoft Office PowerPoint</Application>
  <PresentationFormat>On-screen Show (16:9)</PresentationFormat>
  <Paragraphs>155</Paragraphs>
  <Slides>11</Slides>
  <Notes>11</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Inquiry Training Guide</dc:title>
  <dc:subject>PptxGenJS Presentation</dc:subject>
  <dc:creator>Screen Graphics of Florida - IT</dc:creator>
  <cp:lastModifiedBy>Bill Busch</cp:lastModifiedBy>
  <cp:revision>18</cp:revision>
  <dcterms:created xsi:type="dcterms:W3CDTF">2026-06-22T19:09:55Z</dcterms:created>
  <dcterms:modified xsi:type="dcterms:W3CDTF">2026-06-22T19:41:55Z</dcterms:modified>
</cp:coreProperties>
</file>